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cea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55448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Domain-Robust Common/Bottlenose Dolphin Species Classification from Whistles Using Unsupervised Feature Projection and Contextual-Bandit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0624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Jurica Jerinić</a:t>
            </a:r>
          </a:p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Mentors: dr. sc. Roee Diamant, dr. sc. Nikola Mišković</a:t>
            </a:r>
          </a:p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Faculty of Electrical Engineering and Computing, University of Zagreb</a:t>
            </a:r>
          </a:p>
        </p:txBody>
      </p:sp>
      <p:sp>
        <p:nvSpPr>
          <p:cNvPr id="5" name="Rectangle 4"/>
          <p:cNvSpPr/>
          <p:nvPr/>
        </p:nvSpPr>
        <p:spPr>
          <a:xfrm>
            <a:off x="8351215" y="457200"/>
            <a:ext cx="3291840" cy="2194560"/>
          </a:xfrm>
          <a:prstGeom prst="rect">
            <a:avLst/>
          </a:prstGeom>
          <a:solidFill>
            <a:srgbClr val="E8F4F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0" i="0">
                <a:solidFill>
                  <a:srgbClr val="0A3A58"/>
                </a:solidFill>
                <a:latin typeface="Calibri"/>
              </a:rPr>
              <a:t>[Insert dolphin photograph here]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A3A58"/>
                </a:solidFill>
                <a:latin typeface="Calibr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Problem: automatically classify dolphin species from underwater whistle recordings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Why it matters: Passive Acoustic Monitoring enables non-invasive biodiversity assessment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Species-level classification supports long-term population monitoring at scale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222222"/>
                </a:solidFill>
                <a:latin typeface="Calibri"/>
              </a:rPr>
              <a:t>•  Key challenges: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    Whistles vary with behavior, individual identity, and geography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    Closely related species show highly overlapping acoustic structure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    Classifiers can learn recording-domain cues instead of species cues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A3A58"/>
                </a:solidFill>
                <a:latin typeface="Calibri"/>
              </a:rPr>
              <a:t>State of the Art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4552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931920"/>
                <a:gridCol w="4873752"/>
              </a:tblGrid>
              <a:tr h="841248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54864" marR="54864" marT="18288" marB="18288" anchor="ctr">
                    <a:solidFill>
                      <a:srgbClr val="0A3A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Representative Work</a:t>
                      </a:r>
                    </a:p>
                  </a:txBody>
                  <a:tcPr marL="54864" marR="54864" marT="18288" marB="18288" anchor="ctr">
                    <a:solidFill>
                      <a:srgbClr val="0A3A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Key Idea</a:t>
                      </a:r>
                    </a:p>
                  </a:txBody>
                  <a:tcPr marL="54864" marR="54864" marT="18288" marB="18288" anchor="ctr">
                    <a:solidFill>
                      <a:srgbClr val="0A3A58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Contour extraction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Roch 2011; Gruden 2016/2020; Li 2023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Track whistle time-frequency contour from spectral peaks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Feature-based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Azzolin 2014; Machado 2024; Amorim 2022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Handcrafted acoustic parameters + classifier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Deep learning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Jiang 2019; Frainer 2023; Makropoulos 2025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CNN / ViT learns patterns from spectrograms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RL feature selection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Janisch 2019; Rasoul 2021; Liu 2021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Sequential decision process selects features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A3A58"/>
                </a:solidFill>
                <a:latin typeface="Calibri"/>
              </a:rPr>
              <a:t>State of the Art — Main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Feature-statistics &amp; ML: handcrafted whistle parameters + Random Forest / SVM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Deep learning: CNNs and Vision Transformers on spectrogram images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RL-based feature selection: sequential decisions on which features to keep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Evaluation so far: same geographical region, same recording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949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C01F2E"/>
                </a:solidFill>
                <a:latin typeface="Calibri"/>
              </a:rPr>
              <a:t>Knowledge gap: no existing method explicitly addresses geographical domain shift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A3A58"/>
                </a:solidFill>
                <a:latin typeface="Calibri"/>
              </a:rPr>
              <a:t>System Model — Setup and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6035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Single hydrophone, offline (not real-time) processing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Recordings split into ~1.8 s segments, each capturing one whistle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Binary classification target: Common dolphin vs. Bottlenose dolphin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Assumes a whistle presence detector and time-synchronization step upstream</a:t>
            </a:r>
          </a:p>
        </p:txBody>
      </p:sp>
      <p:pic>
        <p:nvPicPr>
          <p:cNvPr id="4" name="Picture 3" descr="detection_sync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30256"/>
            <a:ext cx="4937760" cy="27974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A3A58"/>
                </a:solidFill>
                <a:latin typeface="Calibri"/>
              </a:rPr>
              <a:t>Datasets — Recording Locations</a:t>
            </a:r>
          </a:p>
        </p:txBody>
      </p:sp>
      <p:pic>
        <p:nvPicPr>
          <p:cNvPr id="3" name="Picture 2" descr="datase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783" y="1188720"/>
            <a:ext cx="10121953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A3A58"/>
                </a:solidFill>
                <a:latin typeface="Calibri"/>
              </a:rPr>
              <a:t>Datasets —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64030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856231"/>
                <a:gridCol w="1856231"/>
                <a:gridCol w="1856231"/>
                <a:gridCol w="2304288"/>
                <a:gridCol w="2304288"/>
              </a:tblGrid>
              <a:tr h="1028700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54864" marR="54864" marT="18288" marB="18288" anchor="ctr">
                    <a:solidFill>
                      <a:srgbClr val="0A3A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France</a:t>
                      </a:r>
                    </a:p>
                  </a:txBody>
                  <a:tcPr marL="54864" marR="54864" marT="18288" marB="18288" anchor="ctr">
                    <a:solidFill>
                      <a:srgbClr val="0A3A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Adriatic Sea</a:t>
                      </a:r>
                    </a:p>
                  </a:txBody>
                  <a:tcPr marL="54864" marR="54864" marT="18288" marB="18288" anchor="ctr">
                    <a:solidFill>
                      <a:srgbClr val="0A3A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W. Australia</a:t>
                      </a:r>
                    </a:p>
                  </a:txBody>
                  <a:tcPr marL="54864" marR="54864" marT="18288" marB="18288" anchor="ctr">
                    <a:solidFill>
                      <a:srgbClr val="0A3A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E. Mediterranean</a:t>
                      </a:r>
                    </a:p>
                  </a:txBody>
                  <a:tcPr marL="54864" marR="54864" marT="18288" marB="18288" anchor="ctr">
                    <a:solidFill>
                      <a:srgbClr val="0A3A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Azores</a:t>
                      </a:r>
                    </a:p>
                  </a:txBody>
                  <a:tcPr marL="54864" marR="54864" marT="18288" marB="18288" anchor="ctr">
                    <a:solidFill>
                      <a:srgbClr val="0A3A58"/>
                    </a:solidFill>
                  </a:tcPr>
                </a:tc>
              </a:tr>
              <a:tr h="1028700"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Species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Common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Bottlenose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Bottlenose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Common + Bottlenose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Bottlenose + Risso's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Whistles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3,825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199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314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925 + 384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163 + 44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1028700"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Training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Training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Training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Cross-/in-domain test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Open-set case study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A3A58"/>
                </a:solidFill>
                <a:latin typeface="Calibri"/>
              </a:rPr>
              <a:t>Method — Classification Pipeline</a:t>
            </a:r>
          </a:p>
        </p:txBody>
      </p:sp>
      <p:pic>
        <p:nvPicPr>
          <p:cNvPr id="3" name="Picture 2" descr="dijagram_diplomsk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51178"/>
            <a:ext cx="11064240" cy="23268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2062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Raw audio → whistle detection &amp; time synchronization → contour tracking (Viterbi)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46 structural features extracted per whistle → PCA projection → DQN classification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A3A58"/>
                </a:solidFill>
                <a:latin typeface="Calibri"/>
              </a:rPr>
              <a:t>Method — DQN Contextual-Bandit Architecture</a:t>
            </a:r>
          </a:p>
        </p:txBody>
      </p:sp>
      <p:pic>
        <p:nvPicPr>
          <p:cNvPr id="3" name="Picture 2" descr="dq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708" y="1097280"/>
            <a:ext cx="5524103" cy="3108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4805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State = projected feature vector; Action = predicted species; Reward = +1 / -1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Network: 2 fully-connected layers (64, 32 units, ReLU) → 2 Q-values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Trained with experience replay, ε-greedy exploration, class-balanced sampling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A3A58"/>
                </a:solidFill>
                <a:latin typeface="Calibri"/>
              </a:rPr>
              <a:t>Feature Extraction</a:t>
            </a:r>
          </a:p>
        </p:txBody>
      </p:sp>
      <p:pic>
        <p:nvPicPr>
          <p:cNvPr id="3" name="Picture 2" descr="096_whistle_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408036"/>
            <a:ext cx="5577840" cy="18590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2801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46 features per whistle, grouped into three families: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   Contour shape: start/end/min/max frequency, duration, slope, inflections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   Spectral descriptors: centroid, entropy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   Cepstral: 13 MFCCs (mean + std)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A3A58"/>
                </a:solidFill>
                <a:latin typeface="Calibri"/>
              </a:rPr>
              <a:t>Feature Extraction — PCA Projection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Features standardized and PCA fit on training domains only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Test data projected using the same fitted transform (no refitting)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Unsupervised: no species labels or domain information used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k ∈ {2, 5, 10} evaluated — low k gives the most robust cross-domain result</a:t>
            </a:r>
          </a:p>
        </p:txBody>
      </p:sp>
      <p:pic>
        <p:nvPicPr>
          <p:cNvPr id="4" name="Picture 3" descr="pca_loadings_barchart_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293" y="3657600"/>
            <a:ext cx="3675654" cy="2926080"/>
          </a:xfrm>
          <a:prstGeom prst="rect">
            <a:avLst/>
          </a:prstGeom>
        </p:spPr>
      </p:pic>
      <p:pic>
        <p:nvPicPr>
          <p:cNvPr id="5" name="Picture 4" descr="pca_loadings_barchart_c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133" y="3657600"/>
            <a:ext cx="3675654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A3A58"/>
                </a:solidFill>
                <a:latin typeface="Calibri"/>
              </a:rPr>
              <a:t>Results — Cross-Domain (Trained Elsewhere, Tested on Israel)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455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952"/>
                <a:gridCol w="1645920"/>
                <a:gridCol w="1645920"/>
                <a:gridCol w="1645920"/>
                <a:gridCol w="1645920"/>
                <a:gridCol w="1645920"/>
              </a:tblGrid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54864" marR="54864" marT="18288" marB="18288" anchor="ctr">
                    <a:solidFill>
                      <a:srgbClr val="0A3A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Bal. Acc.</a:t>
                      </a:r>
                    </a:p>
                  </a:txBody>
                  <a:tcPr marL="54864" marR="54864" marT="18288" marB="18288" anchor="ctr">
                    <a:solidFill>
                      <a:srgbClr val="0A3A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54864" marR="54864" marT="18288" marB="18288" anchor="ctr">
                    <a:solidFill>
                      <a:srgbClr val="0A3A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54864" marR="54864" marT="18288" marB="18288" anchor="ctr">
                    <a:solidFill>
                      <a:srgbClr val="0A3A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54864" marR="54864" marT="18288" marB="18288" anchor="ctr">
                    <a:solidFill>
                      <a:srgbClr val="0A3A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 marL="54864" marR="54864" marT="18288" marB="18288" anchor="ctr">
                    <a:solidFill>
                      <a:srgbClr val="0A3A58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Machado et al.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0.531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0.478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0.112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0.181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0.389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Frainer et al.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0.510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0.511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0.455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0.482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0.597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Rasoul et al.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0.469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0.095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0.021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0.034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0.239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Proposed method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0.657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0.413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0.766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0.536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0.523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7548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Proposed method: highest balanced accuracy (0.657) and F1-score (0.536), driven by higher recall on the minority Bottlenose class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A3A58"/>
                </a:solidFill>
                <a:latin typeface="Calibri"/>
              </a:rPr>
              <a:t>Results — In-Domain (Trained &amp; Tested on Israel)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455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952"/>
                <a:gridCol w="1645920"/>
                <a:gridCol w="1645920"/>
                <a:gridCol w="1645920"/>
                <a:gridCol w="1645920"/>
                <a:gridCol w="1645920"/>
              </a:tblGrid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54864" marR="54864" marT="18288" marB="18288" anchor="ctr">
                    <a:solidFill>
                      <a:srgbClr val="0A3A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Bal. Acc.</a:t>
                      </a:r>
                    </a:p>
                  </a:txBody>
                  <a:tcPr marL="54864" marR="54864" marT="18288" marB="18288" anchor="ctr">
                    <a:solidFill>
                      <a:srgbClr val="0A3A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54864" marR="54864" marT="18288" marB="18288" anchor="ctr">
                    <a:solidFill>
                      <a:srgbClr val="0A3A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54864" marR="54864" marT="18288" marB="18288" anchor="ctr">
                    <a:solidFill>
                      <a:srgbClr val="0A3A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54864" marR="54864" marT="18288" marB="18288" anchor="ctr">
                    <a:solidFill>
                      <a:srgbClr val="0A3A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 marL="54864" marR="54864" marT="18288" marB="18288" anchor="ctr">
                    <a:solidFill>
                      <a:srgbClr val="0A3A58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Machado et al.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0.686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0.739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0.436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0.548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0.658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Frainer et al.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0.752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0.759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0.564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0.647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0.752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Rasoul et al.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0.797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0.847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0.641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0.730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0.863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Proposed method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0.937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0.945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0.896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0.920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0.967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7548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Removing domain shift sharply raises every method — proposed method nearly saturates the task (0.937 bal. acc., 0.967 PR-AUC)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A3A58"/>
                </a:solidFill>
                <a:latin typeface="Calibri"/>
              </a:rPr>
              <a:t>Test With Azores — Open-Set Third Species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28016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377440"/>
                <a:gridCol w="2926080"/>
                <a:gridCol w="2286000"/>
              </a:tblGrid>
              <a:tr h="609600"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True species</a:t>
                      </a:r>
                    </a:p>
                  </a:txBody>
                  <a:tcPr marL="54864" marR="54864" marT="18288" marB="18288" anchor="ctr">
                    <a:solidFill>
                      <a:srgbClr val="0A3A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N (usable)</a:t>
                      </a:r>
                    </a:p>
                  </a:txBody>
                  <a:tcPr marL="54864" marR="54864" marT="18288" marB="18288" anchor="ctr">
                    <a:solidFill>
                      <a:srgbClr val="0A3A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Classified as Bottlenose</a:t>
                      </a:r>
                    </a:p>
                  </a:txBody>
                  <a:tcPr marL="54864" marR="54864" marT="18288" marB="18288" anchor="ctr">
                    <a:solidFill>
                      <a:srgbClr val="0A3A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Mean margin</a:t>
                      </a:r>
                    </a:p>
                  </a:txBody>
                  <a:tcPr marL="54864" marR="54864" marT="18288" marB="18288" anchor="ctr">
                    <a:solidFill>
                      <a:srgbClr val="0A3A58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Bottlenose dolphin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163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135/163 (82.8%)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1.204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Risso's dolphin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44/44 (100%)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 i="0">
                          <a:solidFill>
                            <a:srgbClr val="222222"/>
                          </a:solidFill>
                          <a:latin typeface="Calibri"/>
                        </a:rPr>
                        <a:t>2.062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474720"/>
            <a:ext cx="11064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Cross-domain model applied to Azores data with no re-training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Classifier has no “unknown species” mechanism — it must pick one of the two trained classes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Risso's dolphin whistles are assigned Bottlenose with higher confidence than true Bottlenose whistles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Case study illustrating a failure mode of forced binary classification under an open-set species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A3A58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C6EA4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PCA feature projection improves cross-domain classification robustness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Contextual-bandit DQN gives the best cross-domain F1-score and recall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In-domain accuracy does not predict cross-domain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C6EA4"/>
                </a:solidFill>
                <a:latin typeface="Calibri"/>
              </a:rP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1959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Collect training domains containing both species per campaign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Average results over multiple independently trained seeds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Extend classification to more species and more recording regions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A3A58"/>
                </a:solidFill>
                <a:latin typeface="Calibri"/>
              </a:rPr>
              <a:t>Paper Submitted to Ecological Informatics</a:t>
            </a:r>
          </a:p>
        </p:txBody>
      </p:sp>
      <p:pic>
        <p:nvPicPr>
          <p:cNvPr id="3" name="Picture 2" descr="paper_first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685" y="1005840"/>
            <a:ext cx="4310149" cy="5577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